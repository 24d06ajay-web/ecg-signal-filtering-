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57" r:id="rId7"/>
    <p:sldId id="258" r:id="rId8"/>
    <p:sldId id="259"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1" autoAdjust="0"/>
    <p:restoredTop sz="94660"/>
  </p:normalViewPr>
  <p:slideViewPr>
    <p:cSldViewPr snapToGrid="0">
      <p:cViewPr varScale="1">
        <p:scale>
          <a:sx n="43" d="100"/>
          <a:sy n="43" d="100"/>
        </p:scale>
        <p:origin x="42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3F208-2829-4603-9CEF-15D6E10453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A9A696-9E01-4F4E-AA6F-66DB261B8A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842393-5C43-454D-858B-1EF0022C2828}"/>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35AEB99E-672C-4AB2-A14E-FB0076100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D29CE9-F4F8-431F-8AB7-62E3CA191E9D}"/>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2130032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93D4-2D1D-4E15-92BE-610BC7DC4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087947-3C29-4473-888A-83C5C15FB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90A371-C5D8-4A20-86C0-B9BC4A920FC8}"/>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2E29854C-3E05-4F87-8B16-36430844B1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834D34-3D08-473D-B1A2-D0159BC2C265}"/>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1008819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2917-C67B-4D5F-8EA3-2D3CBDD997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C4C314-ED61-4500-891A-E52339261C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802AEC-2561-4985-928E-99C0F0869211}"/>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13462029-FB73-408E-A5E7-9F900CD743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5E97B-2BEA-41FD-8844-B5937D9B9879}"/>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1471682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659E-2951-4629-8C10-2C69A00FC1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BF1B5A-D8C7-4952-A72B-1BEA351B8F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3D2A35-AC88-4EC9-A4A3-28507F3764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6C47A6-EE76-4E46-BCBF-01C93A11FF9E}"/>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6" name="Footer Placeholder 5">
            <a:extLst>
              <a:ext uri="{FF2B5EF4-FFF2-40B4-BE49-F238E27FC236}">
                <a16:creationId xmlns:a16="http://schemas.microsoft.com/office/drawing/2014/main" id="{F98F3EEB-C8A3-4130-BBC1-3D23E01A79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975AAF-5FB1-4A3E-89D4-097C777AE5DE}"/>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236016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6213C-1ECB-46B5-AC4A-0D641BAC8E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A0227-1968-4603-84FA-C3ABE77C2E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36E5C7-5194-4651-9C4C-D01B400837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E59AEC-66C0-4AC5-9F9E-78954A505C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5F61C-34A0-4DD4-B838-5F879828F0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88E279-D7A2-44F2-945E-38D59883F417}"/>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8" name="Footer Placeholder 7">
            <a:extLst>
              <a:ext uri="{FF2B5EF4-FFF2-40B4-BE49-F238E27FC236}">
                <a16:creationId xmlns:a16="http://schemas.microsoft.com/office/drawing/2014/main" id="{EAC834D6-9A96-477D-B563-5DB8515580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49FDEF-6543-444F-AC9A-E2FA12636636}"/>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520513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E42A8-D399-4439-834A-11CEE8DF61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D65685-63CE-40AD-BC98-264904A30DF1}"/>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4" name="Footer Placeholder 3">
            <a:extLst>
              <a:ext uri="{FF2B5EF4-FFF2-40B4-BE49-F238E27FC236}">
                <a16:creationId xmlns:a16="http://schemas.microsoft.com/office/drawing/2014/main" id="{0AF47E52-6AD1-4EDC-A3AD-AB64674781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5E4AC1-A556-4735-A5DC-81607FF24134}"/>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44408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B93CCD-A0D1-41FD-B7F5-FBC69583B9DB}"/>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3" name="Footer Placeholder 2">
            <a:extLst>
              <a:ext uri="{FF2B5EF4-FFF2-40B4-BE49-F238E27FC236}">
                <a16:creationId xmlns:a16="http://schemas.microsoft.com/office/drawing/2014/main" id="{0FE05DA6-ECE8-47C9-AD88-F2B4DB1CE5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F24DF5-1944-4F67-9483-0186D6CDB3B7}"/>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3343397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4F7DE-CF66-42A7-84EF-18D9BDEB7D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4D01CF-56CA-4A14-B33F-5EB4BDDD5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EE0C81-3C25-4AE3-810A-3CE83D39D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1A90EA-E97F-497B-B09A-1778A3017039}"/>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6" name="Footer Placeholder 5">
            <a:extLst>
              <a:ext uri="{FF2B5EF4-FFF2-40B4-BE49-F238E27FC236}">
                <a16:creationId xmlns:a16="http://schemas.microsoft.com/office/drawing/2014/main" id="{A7A91D03-9654-4E63-BEE7-82416A9E81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6313E0-E577-4521-8627-BA0176AB9C27}"/>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4145904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1104-4865-43DF-9B81-F73889745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DB660C-AA3C-4F6F-8C86-86DEC22D61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2FF870-211F-4F87-8192-2EDE37B55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8084E8-BD13-42FB-ADC4-507DA0B9893A}"/>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6" name="Footer Placeholder 5">
            <a:extLst>
              <a:ext uri="{FF2B5EF4-FFF2-40B4-BE49-F238E27FC236}">
                <a16:creationId xmlns:a16="http://schemas.microsoft.com/office/drawing/2014/main" id="{93AB15D4-3D11-4E39-A0C2-6A2E34847C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86294F-CDC2-44F2-BB77-B4099EAE7107}"/>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3608187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16235-4FD3-4C12-89E1-E444160D6D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799E07-F96C-47C7-9C6F-0D8751A7C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BEECF8-A0B2-4364-818E-29B05D6A0631}"/>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59DB20E8-C465-417E-8664-FFC8B3C7AF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225CFA-E27E-481A-B97D-1DD7A42C7594}"/>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66599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122EFF-80DD-4A88-B6EB-EF4F0EE401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DDFD71-72E6-4765-9490-374B6A33E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C46340-4683-4B8D-BD11-BC6C95664B5C}"/>
              </a:ext>
            </a:extLst>
          </p:cNvPr>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47CC5079-B1A1-4D3B-B75E-CA6DDAD149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4E9601-B553-406F-9A35-C9737996D034}"/>
              </a:ext>
            </a:extLst>
          </p:cNvPr>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543311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20B0B3-71F8-4627-9A68-AED779682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C94995-697D-42F4-A958-F8F2D7222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E5D59-76A5-4870-B056-CF80C701EE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16E34B-4DEA-4EDB-A73A-60A1D8CF10B7}" type="datetimeFigureOut">
              <a:rPr lang="en-IN" smtClean="0"/>
              <a:t>12-05-2026</a:t>
            </a:fld>
            <a:endParaRPr lang="en-IN"/>
          </a:p>
        </p:txBody>
      </p:sp>
      <p:sp>
        <p:nvSpPr>
          <p:cNvPr id="5" name="Footer Placeholder 4">
            <a:extLst>
              <a:ext uri="{FF2B5EF4-FFF2-40B4-BE49-F238E27FC236}">
                <a16:creationId xmlns:a16="http://schemas.microsoft.com/office/drawing/2014/main" id="{F09650C6-1F77-4A5C-9EE6-2F4CBB24B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0A2CB3-1A7E-441C-96E6-0587F13AF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B470B7-8BF0-4457-A9F7-F26AB84E52FE}" type="slidenum">
              <a:rPr lang="en-IN" smtClean="0"/>
              <a:t>‹#›</a:t>
            </a:fld>
            <a:endParaRPr lang="en-IN"/>
          </a:p>
        </p:txBody>
      </p:sp>
    </p:spTree>
    <p:extLst>
      <p:ext uri="{BB962C8B-B14F-4D97-AF65-F5344CB8AC3E}">
        <p14:creationId xmlns:p14="http://schemas.microsoft.com/office/powerpoint/2010/main" val="4080811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sign&#10;&#10;AI-generated content may be incorrect.">
            <a:extLst>
              <a:ext uri="{FF2B5EF4-FFF2-40B4-BE49-F238E27FC236}">
                <a16:creationId xmlns:a16="http://schemas.microsoft.com/office/drawing/2014/main" id="{784FCB07-D6D9-3985-7097-685F7580D2B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4954" y="336511"/>
            <a:ext cx="1960880" cy="636905"/>
          </a:xfrm>
          <a:prstGeom prst="rect">
            <a:avLst/>
          </a:prstGeom>
          <a:noFill/>
          <a:ln>
            <a:noFill/>
          </a:ln>
        </p:spPr>
      </p:pic>
      <p:sp>
        <p:nvSpPr>
          <p:cNvPr id="6" name="TextBox 5">
            <a:extLst>
              <a:ext uri="{FF2B5EF4-FFF2-40B4-BE49-F238E27FC236}">
                <a16:creationId xmlns:a16="http://schemas.microsoft.com/office/drawing/2014/main" id="{3B1C8F10-F051-0AD8-04E7-D96A65C31870}"/>
              </a:ext>
            </a:extLst>
          </p:cNvPr>
          <p:cNvSpPr txBox="1"/>
          <p:nvPr/>
        </p:nvSpPr>
        <p:spPr>
          <a:xfrm>
            <a:off x="2379406" y="973416"/>
            <a:ext cx="6096000" cy="2610715"/>
          </a:xfrm>
          <a:prstGeom prst="rect">
            <a:avLst/>
          </a:prstGeom>
          <a:noFill/>
        </p:spPr>
        <p:txBody>
          <a:bodyPr wrap="square">
            <a:spAutoFit/>
          </a:bodyPr>
          <a:lstStyle/>
          <a:p>
            <a:pPr indent="457200" algn="ctr">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The Department of Electronics And Communication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Course Level Problem Based Learning</a:t>
            </a:r>
          </a:p>
          <a:p>
            <a:pPr indent="457200" algn="ctr">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Arial Black" panose="020B0A04020102020204" pitchFamily="34" charset="0"/>
                <a:ea typeface="Calibri" panose="020F0502020204030204" pitchFamily="34" charset="0"/>
                <a:cs typeface="Times New Roman" panose="02020603050405020304" pitchFamily="18" charset="0"/>
              </a:rPr>
              <a:t> </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Course Title: DDHDL Verilog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Course Code:</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22ECE42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Semester: Fourth Semester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lnSpc>
                <a:spcPct val="115000"/>
              </a:lnSpc>
              <a:spcAft>
                <a:spcPts val="800"/>
              </a:spcAft>
              <a:buNone/>
            </a:pPr>
            <a:r>
              <a:rPr lang="en-IN" sz="2000" b="1" kern="100" dirty="0">
                <a:effectLst/>
                <a:latin typeface="Arial Black" panose="020B0A0402010202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F2F01D1-02CD-E50E-BD41-BEBDD85F3C43}"/>
              </a:ext>
            </a:extLst>
          </p:cNvPr>
          <p:cNvSpPr txBox="1"/>
          <p:nvPr/>
        </p:nvSpPr>
        <p:spPr>
          <a:xfrm>
            <a:off x="2507226" y="3315683"/>
            <a:ext cx="6096000" cy="1131848"/>
          </a:xfrm>
          <a:prstGeom prst="rect">
            <a:avLst/>
          </a:prstGeom>
          <a:noFill/>
        </p:spPr>
        <p:txBody>
          <a:bodyPr wrap="square">
            <a:spAutoFit/>
          </a:bodyPr>
          <a:lstStyle/>
          <a:p>
            <a:pPr indent="457200" algn="ctr">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Project Titled</a:t>
            </a:r>
            <a:r>
              <a:rPr lang="en-IN" sz="1600" kern="100" dirty="0">
                <a:latin typeface="Calibri" panose="020F0502020204030204" pitchFamily="34" charset="0"/>
                <a:ea typeface="Calibri" panose="020F0502020204030204" pitchFamily="34" charset="0"/>
                <a:cs typeface="Times New Roman" panose="02020603050405020304" pitchFamily="18" charset="0"/>
              </a:rPr>
              <a:t> :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FPGA implementation of ECG signals using FIR filter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lnSpc>
                <a:spcPct val="115000"/>
              </a:lnSpc>
              <a:spcAft>
                <a:spcPts val="800"/>
              </a:spcAft>
              <a:buNone/>
            </a:pPr>
            <a:r>
              <a:rPr lang="en-IN" sz="1800" b="1" kern="100" dirty="0">
                <a:effectLst/>
                <a:latin typeface="Arial Black" panose="020B0A04020102020204" pitchFamily="34" charset="0"/>
                <a:ea typeface="Calibri" panose="020F0502020204030204" pitchFamily="34"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277BCAE-6DD4-A7C5-6581-05208C0D4D74}"/>
              </a:ext>
            </a:extLst>
          </p:cNvPr>
          <p:cNvGraphicFramePr>
            <a:graphicFrameLocks noGrp="1"/>
          </p:cNvGraphicFramePr>
          <p:nvPr>
            <p:extLst>
              <p:ext uri="{D42A27DB-BD31-4B8C-83A1-F6EECF244321}">
                <p14:modId xmlns:p14="http://schemas.microsoft.com/office/powerpoint/2010/main" val="1299697855"/>
              </p:ext>
            </p:extLst>
          </p:nvPr>
        </p:nvGraphicFramePr>
        <p:xfrm>
          <a:off x="2781135" y="4306887"/>
          <a:ext cx="6343199" cy="2181781"/>
        </p:xfrm>
        <a:graphic>
          <a:graphicData uri="http://schemas.openxmlformats.org/drawingml/2006/table">
            <a:tbl>
              <a:tblPr firstRow="1" firstCol="1" bandRow="1">
                <a:tableStyleId>{5C22544A-7EE6-4342-B048-85BDC9FD1C3A}</a:tableStyleId>
              </a:tblPr>
              <a:tblGrid>
                <a:gridCol w="757019">
                  <a:extLst>
                    <a:ext uri="{9D8B030D-6E8A-4147-A177-3AD203B41FA5}">
                      <a16:colId xmlns:a16="http://schemas.microsoft.com/office/drawing/2014/main" val="1645605662"/>
                    </a:ext>
                  </a:extLst>
                </a:gridCol>
                <a:gridCol w="2131754">
                  <a:extLst>
                    <a:ext uri="{9D8B030D-6E8A-4147-A177-3AD203B41FA5}">
                      <a16:colId xmlns:a16="http://schemas.microsoft.com/office/drawing/2014/main" val="925930678"/>
                    </a:ext>
                  </a:extLst>
                </a:gridCol>
                <a:gridCol w="3454426">
                  <a:extLst>
                    <a:ext uri="{9D8B030D-6E8A-4147-A177-3AD203B41FA5}">
                      <a16:colId xmlns:a16="http://schemas.microsoft.com/office/drawing/2014/main" val="274738677"/>
                    </a:ext>
                  </a:extLst>
                </a:gridCol>
              </a:tblGrid>
              <a:tr h="510169">
                <a:tc>
                  <a:txBody>
                    <a:bodyPr/>
                    <a:lstStyle/>
                    <a:p>
                      <a:pPr algn="just">
                        <a:lnSpc>
                          <a:spcPct val="115000"/>
                        </a:lnSpc>
                        <a:spcAft>
                          <a:spcPts val="800"/>
                        </a:spcAft>
                        <a:buNone/>
                      </a:pPr>
                      <a:r>
                        <a:rPr lang="en-IN" sz="1400" kern="100">
                          <a:effectLst/>
                        </a:rPr>
                        <a:t>Sl No.</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a:effectLst/>
                        </a:rPr>
                        <a:t>USN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Name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9179467"/>
                  </a:ext>
                </a:extLst>
              </a:tr>
              <a:tr h="417903">
                <a:tc>
                  <a:txBody>
                    <a:bodyPr/>
                    <a:lstStyle/>
                    <a:p>
                      <a:pPr algn="ctr">
                        <a:lnSpc>
                          <a:spcPct val="115000"/>
                        </a:lnSpc>
                        <a:spcAft>
                          <a:spcPts val="800"/>
                        </a:spcAft>
                        <a:buNone/>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4S024EC018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ASTEL JOSWIN RODRIGUES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715996"/>
                  </a:ext>
                </a:extLst>
              </a:tr>
              <a:tr h="417903">
                <a:tc>
                  <a:txBody>
                    <a:bodyPr/>
                    <a:lstStyle/>
                    <a:p>
                      <a:pPr algn="ctr">
                        <a:lnSpc>
                          <a:spcPct val="115000"/>
                        </a:lnSpc>
                        <a:spcAft>
                          <a:spcPts val="800"/>
                        </a:spcAft>
                        <a:buNone/>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4SO24EC006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AJAY KUMAR P</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0279592"/>
                  </a:ext>
                </a:extLst>
              </a:tr>
              <a:tr h="417903">
                <a:tc>
                  <a:txBody>
                    <a:bodyPr/>
                    <a:lstStyle/>
                    <a:p>
                      <a:pPr algn="ctr">
                        <a:lnSpc>
                          <a:spcPct val="115000"/>
                        </a:lnSpc>
                        <a:spcAft>
                          <a:spcPts val="800"/>
                        </a:spcAft>
                        <a:buNone/>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4S024EC021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BASHMA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6290498"/>
                  </a:ext>
                </a:extLst>
              </a:tr>
              <a:tr h="417903">
                <a:tc>
                  <a:txBody>
                    <a:bodyPr/>
                    <a:lstStyle/>
                    <a:p>
                      <a:pPr algn="ctr">
                        <a:lnSpc>
                          <a:spcPct val="115000"/>
                        </a:lnSpc>
                        <a:spcAft>
                          <a:spcPts val="800"/>
                        </a:spcAft>
                        <a:buNone/>
                      </a:pPr>
                      <a:r>
                        <a:rPr lang="en-IN" sz="1400" kern="10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4SO24EC022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BRAHMI LAKSHMI U.H</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7917164"/>
                  </a:ext>
                </a:extLst>
              </a:tr>
            </a:tbl>
          </a:graphicData>
        </a:graphic>
      </p:graphicFrame>
      <p:sp>
        <p:nvSpPr>
          <p:cNvPr id="10" name="Rectangle 1">
            <a:extLst>
              <a:ext uri="{FF2B5EF4-FFF2-40B4-BE49-F238E27FC236}">
                <a16:creationId xmlns:a16="http://schemas.microsoft.com/office/drawing/2014/main" id="{31AA90AB-A596-0FDC-A7AE-0C3BBD74AEBF}"/>
              </a:ext>
            </a:extLst>
          </p:cNvPr>
          <p:cNvSpPr>
            <a:spLocks noChangeArrowheads="1"/>
          </p:cNvSpPr>
          <p:nvPr/>
        </p:nvSpPr>
        <p:spPr bwMode="auto">
          <a:xfrm>
            <a:off x="4134464" y="5996225"/>
            <a:ext cx="392307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9029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6F571F-B375-0B00-7FBC-4BB3C65F31D4}"/>
              </a:ext>
            </a:extLst>
          </p:cNvPr>
          <p:cNvSpPr>
            <a:spLocks noGrp="1"/>
          </p:cNvSpPr>
          <p:nvPr>
            <p:ph type="ctrTitle"/>
          </p:nvPr>
        </p:nvSpPr>
        <p:spPr>
          <a:xfrm>
            <a:off x="865239" y="117986"/>
            <a:ext cx="9144000" cy="845421"/>
          </a:xfrm>
        </p:spPr>
        <p:txBody>
          <a:bodyPr>
            <a:normAutofit/>
          </a:bodyPr>
          <a:lstStyle/>
          <a:p>
            <a:r>
              <a:rPr lang="en-IN" sz="3200" b="1" u="sng" dirty="0"/>
              <a:t>Work Distribution</a:t>
            </a:r>
          </a:p>
        </p:txBody>
      </p:sp>
      <p:sp>
        <p:nvSpPr>
          <p:cNvPr id="5" name="Subtitle 4">
            <a:extLst>
              <a:ext uri="{FF2B5EF4-FFF2-40B4-BE49-F238E27FC236}">
                <a16:creationId xmlns:a16="http://schemas.microsoft.com/office/drawing/2014/main" id="{45941FC9-B30A-36D6-5479-0D67943E5FD1}"/>
              </a:ext>
            </a:extLst>
          </p:cNvPr>
          <p:cNvSpPr>
            <a:spLocks noGrp="1"/>
          </p:cNvSpPr>
          <p:nvPr>
            <p:ph type="subTitle" idx="1"/>
          </p:nvPr>
        </p:nvSpPr>
        <p:spPr>
          <a:xfrm>
            <a:off x="1170038" y="1248697"/>
            <a:ext cx="9144000" cy="5279922"/>
          </a:xfrm>
        </p:spPr>
        <p:txBody>
          <a:bodyPr>
            <a:normAutofit/>
          </a:bodyPr>
          <a:lstStyle/>
          <a:p>
            <a:pPr marL="342900" indent="-342900" algn="l">
              <a:buFont typeface="Arial" panose="020B0604020202020204" pitchFamily="34" charset="0"/>
              <a:buChar char="•"/>
            </a:pPr>
            <a:r>
              <a:rPr lang="en-IN" sz="2000" kern="100" dirty="0"/>
              <a:t>BASHMA</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dirty="0"/>
              <a:t>Chapter 1</a:t>
            </a:r>
            <a:r>
              <a:rPr lang="en-IN" sz="2000" b="1" dirty="0"/>
              <a:t>: </a:t>
            </a:r>
          </a:p>
          <a:p>
            <a:pPr algn="l"/>
            <a:r>
              <a:rPr lang="en-IN" sz="2000" dirty="0"/>
              <a:t>Introduction</a:t>
            </a:r>
            <a:r>
              <a:rPr lang="en-IN" sz="2000" dirty="0">
                <a:sym typeface="Wingdings" panose="05000000000000000000" pitchFamily="2" charset="2"/>
              </a:rPr>
              <a:t></a:t>
            </a:r>
            <a:r>
              <a:rPr lang="en-IN" sz="2000" dirty="0"/>
              <a:t> Background, Problem. Statement,  Objectives.</a:t>
            </a:r>
          </a:p>
          <a:p>
            <a:pPr marL="342900" indent="-342900" algn="l">
              <a:buFont typeface="Arial" panose="020B0604020202020204" pitchFamily="34" charset="0"/>
              <a:buChar char="•"/>
            </a:pPr>
            <a:r>
              <a:rPr lang="en-IN" sz="2000" kern="100" dirty="0"/>
              <a:t>AJAY KUMAR P</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dirty="0"/>
              <a:t>Chapter 2</a:t>
            </a:r>
            <a:r>
              <a:rPr lang="en-IN" sz="2000" b="1" dirty="0"/>
              <a:t>: </a:t>
            </a:r>
          </a:p>
          <a:p>
            <a:pPr algn="l"/>
            <a:r>
              <a:rPr lang="en-IN" sz="2000" dirty="0"/>
              <a:t>Literature Review (Secondary Research)</a:t>
            </a:r>
            <a:r>
              <a:rPr lang="en-IN" sz="2000" dirty="0">
                <a:sym typeface="Wingdings" panose="05000000000000000000" pitchFamily="2" charset="2"/>
              </a:rPr>
              <a:t></a:t>
            </a:r>
            <a:r>
              <a:rPr lang="en-IN" sz="2000" dirty="0"/>
              <a:t>Review of Existing Work, Comparative Analysis Table, Research Gap Identification.</a:t>
            </a:r>
          </a:p>
          <a:p>
            <a:pPr marL="342900" indent="-342900" algn="l">
              <a:buFont typeface="Arial" panose="020B0604020202020204" pitchFamily="34" charset="0"/>
              <a:buChar char="•"/>
            </a:pPr>
            <a:r>
              <a:rPr lang="en-IN" sz="2000" kern="100" dirty="0"/>
              <a:t>BRAHMI LAKSHMI U.H</a:t>
            </a:r>
          </a:p>
          <a:p>
            <a:pPr algn="l"/>
            <a:r>
              <a:rPr lang="en-IN" sz="2000" kern="100" dirty="0">
                <a:latin typeface="Calibri" panose="020F0502020204030204" pitchFamily="34" charset="0"/>
                <a:ea typeface="Calibri" panose="020F0502020204030204" pitchFamily="34" charset="0"/>
                <a:cs typeface="Times New Roman" panose="02020603050405020304" pitchFamily="18" charset="0"/>
              </a:rPr>
              <a:t>Chapter 3:</a:t>
            </a:r>
          </a:p>
          <a:p>
            <a:pPr algn="l"/>
            <a:r>
              <a:rPr lang="en-IN" sz="2000" dirty="0"/>
              <a:t>Proposed System Design</a:t>
            </a:r>
            <a:r>
              <a:rPr lang="en-IN" sz="2000" dirty="0">
                <a:sym typeface="Wingdings" panose="05000000000000000000" pitchFamily="2" charset="2"/>
              </a:rPr>
              <a:t></a:t>
            </a:r>
            <a:r>
              <a:rPr lang="en-IN" sz="2000" dirty="0"/>
              <a:t> Design Justification, Block Diagram, Architecture Diagram</a:t>
            </a:r>
          </a:p>
          <a:p>
            <a:pPr marL="342900" indent="-342900" algn="l">
              <a:buFont typeface="Arial" panose="020B0604020202020204" pitchFamily="34" charset="0"/>
              <a:buChar char="•"/>
            </a:pPr>
            <a:r>
              <a:rPr lang="en-IN" sz="2000" kern="100" dirty="0"/>
              <a:t>ASTEL JOSWIN RODRIGUES AND AJAY KUMAR P</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kern="100" dirty="0">
                <a:latin typeface="Calibri" panose="020F0502020204030204" pitchFamily="34" charset="0"/>
                <a:ea typeface="Calibri" panose="020F0502020204030204" pitchFamily="34" charset="0"/>
                <a:cs typeface="Times New Roman" panose="02020603050405020304" pitchFamily="18" charset="0"/>
              </a:rPr>
              <a:t>Chapter 4:</a:t>
            </a:r>
          </a:p>
          <a:p>
            <a:pPr algn="l"/>
            <a:r>
              <a:rPr lang="en-IN" sz="2000" dirty="0"/>
              <a:t>Leaf Cell Design</a:t>
            </a:r>
            <a:r>
              <a:rPr lang="en-IN" sz="2000" dirty="0">
                <a:sym typeface="Wingdings" panose="05000000000000000000" pitchFamily="2" charset="2"/>
              </a:rPr>
              <a:t></a:t>
            </a:r>
            <a:r>
              <a:rPr lang="en-IN" sz="2000" dirty="0"/>
              <a:t>Identification of Leaf Cells, Leaf Cell Description,</a:t>
            </a:r>
            <a:r>
              <a:rPr lang="en-US" sz="2000" dirty="0"/>
              <a:t> Leaf Cell Simulation</a:t>
            </a:r>
            <a:endParaRPr lang="en-IN" sz="2000" dirty="0"/>
          </a:p>
          <a:p>
            <a:pPr algn="l"/>
            <a:endParaRPr lang="en-IN" dirty="0"/>
          </a:p>
          <a:p>
            <a:pPr algn="l"/>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algn="l"/>
            <a:endParaRPr lang="en-IN" sz="2000" dirty="0"/>
          </a:p>
          <a:p>
            <a:pPr marL="342900" indent="-342900" algn="l">
              <a:buFont typeface="Arial" panose="020B0604020202020204" pitchFamily="34" charset="0"/>
              <a:buChar char="•"/>
            </a:pPr>
            <a:endParaRPr lang="en-IN" sz="2000" dirty="0"/>
          </a:p>
          <a:p>
            <a:pPr algn="l"/>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l">
              <a:buFont typeface="Arial" panose="020B0604020202020204" pitchFamily="34" charset="0"/>
              <a:buChar char="•"/>
            </a:pPr>
            <a:endParaRPr lang="en-IN" sz="2000" dirty="0"/>
          </a:p>
          <a:p>
            <a:pPr algn="l"/>
            <a:endParaRPr lang="en-IN" sz="2000" dirty="0"/>
          </a:p>
          <a:p>
            <a:pPr algn="l"/>
            <a:endParaRPr lang="en-IN" sz="2000" dirty="0"/>
          </a:p>
          <a:p>
            <a:pPr algn="l"/>
            <a:endParaRPr lang="en-IN" sz="2000" dirty="0"/>
          </a:p>
        </p:txBody>
      </p:sp>
    </p:spTree>
    <p:extLst>
      <p:ext uri="{BB962C8B-B14F-4D97-AF65-F5344CB8AC3E}">
        <p14:creationId xmlns:p14="http://schemas.microsoft.com/office/powerpoint/2010/main" val="387039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70B355-0063-C5EF-879F-2A3D3DCB09AD}"/>
              </a:ext>
            </a:extLst>
          </p:cNvPr>
          <p:cNvSpPr txBox="1"/>
          <p:nvPr/>
        </p:nvSpPr>
        <p:spPr>
          <a:xfrm>
            <a:off x="580104" y="1307415"/>
            <a:ext cx="10589342" cy="3076483"/>
          </a:xfrm>
          <a:prstGeom prst="rect">
            <a:avLst/>
          </a:prstGeom>
          <a:noFill/>
        </p:spPr>
        <p:txBody>
          <a:bodyPr wrap="square">
            <a:spAutoFit/>
          </a:bodyPr>
          <a:lstStyle/>
          <a:p>
            <a:pPr indent="457200">
              <a:lnSpc>
                <a:spcPct val="115000"/>
              </a:lnSpc>
              <a:spcAft>
                <a:spcPts val="800"/>
              </a:spcAft>
              <a:buNone/>
            </a:pPr>
            <a:r>
              <a:rPr lang="en-IN" b="1" u="sng" kern="100" dirty="0">
                <a:latin typeface="Calibri" panose="020F0502020204030204" pitchFamily="34" charset="0"/>
                <a:ea typeface="Calibri" panose="020F0502020204030204" pitchFamily="34" charset="0"/>
                <a:cs typeface="Times New Roman" panose="02020603050405020304" pitchFamily="18" charset="0"/>
              </a:rPr>
              <a:t>Main objective of the proposed project:</a:t>
            </a:r>
          </a:p>
          <a:p>
            <a:pPr indent="457200">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primary objective of this work is to design and implement an FPGA-based ECG signal processing accelerator that filters raw ECG signals </a:t>
            </a:r>
            <a:r>
              <a:rPr lang="en-IN" kern="100" dirty="0">
                <a:latin typeface="Calibri" panose="020F0502020204030204" pitchFamily="34" charset="0"/>
                <a:ea typeface="Calibri" panose="020F0502020204030204" pitchFamily="34" charset="0"/>
                <a:cs typeface="Times New Roman" panose="02020603050405020304" pitchFamily="18" charset="0"/>
              </a:rPr>
              <a:t>from dataset(predefined signals)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applies a FIR filter with transfer function 0.5 + 0.5z⁻¹ to suppress high-frequency noise while preserving essential cardiac waveform features. The work aims to </a:t>
            </a:r>
            <a:r>
              <a:rPr lang="en-IN" kern="100" dirty="0">
                <a:latin typeface="Calibri" panose="020F0502020204030204" pitchFamily="34" charset="0"/>
                <a:ea typeface="Calibri" panose="020F0502020204030204" pitchFamily="34" charset="0"/>
                <a:cs typeface="Times New Roman" panose="02020603050405020304" pitchFamily="18" charset="0"/>
              </a:rPr>
              <a:t>utilize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FPGA’s </a:t>
            </a:r>
            <a:r>
              <a:rPr lang="en-IN" kern="100" dirty="0">
                <a:latin typeface="Calibri" panose="020F0502020204030204" pitchFamily="34" charset="0"/>
                <a:ea typeface="Calibri" panose="020F0502020204030204" pitchFamily="34" charset="0"/>
                <a:cs typeface="Times New Roman" panose="02020603050405020304" pitchFamily="18" charset="0"/>
              </a:rPr>
              <a:t>sequential</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processing capability to achieve low-latency performance compared to software-based implementations. Finally, the system seeks to produce a clean filtered ECG output, demonstrating that a FIR filter structure on reconfigurable FPGA hardware can serve as an efficient and flexible foundation for biomedical signal processing applications.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8349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E98334-B818-6A12-E732-EF75B2CE6161}"/>
              </a:ext>
            </a:extLst>
          </p:cNvPr>
          <p:cNvSpPr txBox="1"/>
          <p:nvPr/>
        </p:nvSpPr>
        <p:spPr>
          <a:xfrm>
            <a:off x="393290" y="582251"/>
            <a:ext cx="6096000" cy="523220"/>
          </a:xfrm>
          <a:prstGeom prst="rect">
            <a:avLst/>
          </a:prstGeom>
          <a:noFill/>
        </p:spPr>
        <p:txBody>
          <a:bodyPr wrap="square">
            <a:spAutoFit/>
          </a:bodyPr>
          <a:lstStyle/>
          <a:p>
            <a:r>
              <a:rPr lang="en-IN" sz="2800" b="1" u="sng" dirty="0">
                <a:effectLst/>
                <a:latin typeface="Calibri" panose="020F0502020204030204" pitchFamily="34" charset="0"/>
                <a:ea typeface="Calibri" panose="020F0502020204030204" pitchFamily="34" charset="0"/>
                <a:cs typeface="Times New Roman" panose="02020603050405020304" pitchFamily="18" charset="0"/>
              </a:rPr>
              <a:t>Literature </a:t>
            </a:r>
            <a:r>
              <a:rPr lang="en-IN" sz="2800" b="1" u="sng" dirty="0">
                <a:latin typeface="Calibri" panose="020F0502020204030204" pitchFamily="34" charset="0"/>
                <a:ea typeface="Calibri" panose="020F0502020204030204" pitchFamily="34" charset="0"/>
                <a:cs typeface="Times New Roman" panose="02020603050405020304" pitchFamily="18" charset="0"/>
              </a:rPr>
              <a:t>survey results:</a:t>
            </a:r>
            <a:r>
              <a:rPr lang="en-IN" sz="2800" b="1" u="sng" dirty="0">
                <a:effectLst/>
                <a:latin typeface="Calibri" panose="020F0502020204030204" pitchFamily="34" charset="0"/>
                <a:ea typeface="Calibri" panose="020F0502020204030204" pitchFamily="34" charset="0"/>
                <a:cs typeface="Times New Roman" panose="02020603050405020304" pitchFamily="18" charset="0"/>
              </a:rPr>
              <a:t> </a:t>
            </a:r>
            <a:endParaRPr lang="en-IN" sz="2800" dirty="0"/>
          </a:p>
        </p:txBody>
      </p:sp>
      <p:sp>
        <p:nvSpPr>
          <p:cNvPr id="5" name="TextBox 4">
            <a:extLst>
              <a:ext uri="{FF2B5EF4-FFF2-40B4-BE49-F238E27FC236}">
                <a16:creationId xmlns:a16="http://schemas.microsoft.com/office/drawing/2014/main" id="{C1883FDA-2186-913F-AAF7-C1890C9FE35F}"/>
              </a:ext>
            </a:extLst>
          </p:cNvPr>
          <p:cNvSpPr txBox="1"/>
          <p:nvPr/>
        </p:nvSpPr>
        <p:spPr>
          <a:xfrm>
            <a:off x="255638" y="1634301"/>
            <a:ext cx="9261987" cy="3139321"/>
          </a:xfrm>
          <a:prstGeom prst="rect">
            <a:avLst/>
          </a:prstGeom>
          <a:noFill/>
        </p:spPr>
        <p:txBody>
          <a:bodyPr wrap="square">
            <a:spAutoFit/>
          </a:bodyPr>
          <a:lstStyle/>
          <a:p>
            <a:r>
              <a:rPr lang="en-US" b="0" u="none" strike="noStrike" dirty="0">
                <a:effectLst/>
                <a:latin typeface="Google Sans"/>
              </a:rPr>
              <a:t>As per four distinct FPGA-based approaches to ECG denoising, it </a:t>
            </a:r>
            <a:r>
              <a:rPr lang="en-US" dirty="0"/>
              <a:t>collectively demonstrates that hardware parallelism superiorly handles noise reduction compared to software.</a:t>
            </a:r>
          </a:p>
          <a:p>
            <a:pPr marL="285750" indent="-285750">
              <a:buFont typeface="Arial" panose="020B0604020202020204" pitchFamily="34" charset="0"/>
              <a:buChar char="•"/>
            </a:pPr>
            <a:r>
              <a:rPr lang="en-US" dirty="0"/>
              <a:t>Rayka and Bansod (2015) utilized a resource-efficient median filter.</a:t>
            </a:r>
          </a:p>
          <a:p>
            <a:pPr marL="285750" indent="-285750">
              <a:buFont typeface="Arial" panose="020B0604020202020204" pitchFamily="34" charset="0"/>
              <a:buChar char="•"/>
            </a:pPr>
            <a:r>
              <a:rPr lang="en-US" dirty="0"/>
              <a:t>Uttraphan et al. (2024) implemented an optimized 21-tap FIR filter using a Kaiser window, showing up to 1,250 times faster processing than MATLAB.</a:t>
            </a:r>
          </a:p>
          <a:p>
            <a:pPr marL="285750" indent="-285750">
              <a:buFont typeface="Arial" panose="020B0604020202020204" pitchFamily="34" charset="0"/>
              <a:buChar char="•"/>
            </a:pPr>
            <a:r>
              <a:rPr lang="en-US" dirty="0"/>
              <a:t>Mulla and Kishtwar (2014) introduced a high-throughput, low-resource LMS adaptive filter using a Radix-2 Montgomery multiplier, achieving 22 dB SNR improvement.</a:t>
            </a:r>
          </a:p>
          <a:p>
            <a:pPr marL="285750" indent="-285750">
              <a:buFont typeface="Arial" panose="020B0604020202020204" pitchFamily="34" charset="0"/>
              <a:buChar char="•"/>
            </a:pPr>
            <a:r>
              <a:rPr lang="en-US" dirty="0"/>
              <a:t>Key research gaps identified include limited reporting of comprehensive resource utilization (LUTs, Fmax) across all studies</a:t>
            </a:r>
          </a:p>
          <a:p>
            <a:pPr marL="285750" indent="-285750">
              <a:buFont typeface="Arial" panose="020B0604020202020204" pitchFamily="34" charset="0"/>
              <a:buChar char="•"/>
            </a:pPr>
            <a:endParaRPr lang="en-US" dirty="0"/>
          </a:p>
          <a:p>
            <a:endParaRPr lang="en-IN" dirty="0"/>
          </a:p>
        </p:txBody>
      </p:sp>
      <p:sp>
        <p:nvSpPr>
          <p:cNvPr id="7" name="TextBox 6">
            <a:extLst>
              <a:ext uri="{FF2B5EF4-FFF2-40B4-BE49-F238E27FC236}">
                <a16:creationId xmlns:a16="http://schemas.microsoft.com/office/drawing/2014/main" id="{9BC2715A-280D-6786-8470-655AB52CE7B5}"/>
              </a:ext>
            </a:extLst>
          </p:cNvPr>
          <p:cNvSpPr txBox="1"/>
          <p:nvPr/>
        </p:nvSpPr>
        <p:spPr>
          <a:xfrm>
            <a:off x="393290" y="4798421"/>
            <a:ext cx="6096000" cy="1754326"/>
          </a:xfrm>
          <a:prstGeom prst="rect">
            <a:avLst/>
          </a:prstGeom>
          <a:noFill/>
        </p:spPr>
        <p:txBody>
          <a:bodyPr wrap="square">
            <a:spAutoFit/>
          </a:bodyPr>
          <a:lstStyle/>
          <a:p>
            <a:r>
              <a:rPr lang="en-US" b="1" u="sng" dirty="0"/>
              <a:t>What is understood:</a:t>
            </a:r>
          </a:p>
          <a:p>
            <a:r>
              <a:rPr lang="en-US" dirty="0"/>
              <a:t>Based on the research, a 16-tap FIR filter is selected for the proposed system to balance effective noise removal with minimal hardware complexity, as fewer taps inadequately remove noise, while excessive taps increase resource usage and processing delay.</a:t>
            </a:r>
            <a:endParaRPr lang="en-IN" dirty="0"/>
          </a:p>
        </p:txBody>
      </p:sp>
    </p:spTree>
    <p:extLst>
      <p:ext uri="{BB962C8B-B14F-4D97-AF65-F5344CB8AC3E}">
        <p14:creationId xmlns:p14="http://schemas.microsoft.com/office/powerpoint/2010/main" val="375243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146A7-5CFB-F5FC-E700-F8F6FCF3D0E0}"/>
              </a:ext>
            </a:extLst>
          </p:cNvPr>
          <p:cNvSpPr>
            <a:spLocks noGrp="1"/>
          </p:cNvSpPr>
          <p:nvPr>
            <p:ph type="ctrTitle"/>
          </p:nvPr>
        </p:nvSpPr>
        <p:spPr>
          <a:xfrm>
            <a:off x="747252" y="265471"/>
            <a:ext cx="9144000" cy="2281084"/>
          </a:xfrm>
        </p:spPr>
        <p:txBody>
          <a:bodyPr>
            <a:normAutofit fontScale="90000"/>
          </a:bodyPr>
          <a:lstStyle/>
          <a:p>
            <a:pPr algn="l"/>
            <a:r>
              <a:rPr lang="en-IN" sz="3200" b="1" u="sng" dirty="0"/>
              <a:t>Comments:</a:t>
            </a:r>
            <a:br>
              <a:rPr lang="en-IN" sz="3200" dirty="0"/>
            </a:br>
            <a:r>
              <a:rPr lang="en-IN" sz="2200" dirty="0"/>
              <a:t>1)Do you have real time signal or from datasets?</a:t>
            </a:r>
            <a:br>
              <a:rPr lang="en-IN" sz="2200" dirty="0"/>
            </a:br>
            <a:r>
              <a:rPr lang="en-IN" sz="2200" dirty="0"/>
              <a:t>Ans) Datasets </a:t>
            </a:r>
            <a:br>
              <a:rPr lang="en-IN" sz="2200" dirty="0"/>
            </a:br>
            <a:br>
              <a:rPr lang="en-IN" sz="2200" dirty="0"/>
            </a:br>
            <a:br>
              <a:rPr lang="en-IN" sz="3200" dirty="0"/>
            </a:br>
            <a:endParaRPr lang="en-IN" sz="3200" dirty="0"/>
          </a:p>
        </p:txBody>
      </p:sp>
    </p:spTree>
    <p:extLst>
      <p:ext uri="{BB962C8B-B14F-4D97-AF65-F5344CB8AC3E}">
        <p14:creationId xmlns:p14="http://schemas.microsoft.com/office/powerpoint/2010/main" val="262122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211A-89F7-4F1F-BA29-ED2F80052006}"/>
              </a:ext>
            </a:extLst>
          </p:cNvPr>
          <p:cNvSpPr>
            <a:spLocks noGrp="1"/>
          </p:cNvSpPr>
          <p:nvPr>
            <p:ph type="title"/>
          </p:nvPr>
        </p:nvSpPr>
        <p:spPr>
          <a:xfrm>
            <a:off x="215347" y="-342079"/>
            <a:ext cx="10515600" cy="1325563"/>
          </a:xfrm>
        </p:spPr>
        <p:txBody>
          <a:bodyPr>
            <a:normAutofit/>
          </a:bodyPr>
          <a:lstStyle/>
          <a:p>
            <a:r>
              <a:rPr lang="en-US" sz="2000" dirty="0">
                <a:latin typeface="Times New Roman" panose="02020603050405020304" pitchFamily="18" charset="0"/>
                <a:cs typeface="Times New Roman" panose="02020603050405020304" pitchFamily="18" charset="0"/>
              </a:rPr>
              <a:t>   </a:t>
            </a:r>
            <a:r>
              <a:rPr lang="en-US" sz="2000" b="1" dirty="0">
                <a:latin typeface="+mn-lt"/>
                <a:cs typeface="Times New Roman" panose="02020603050405020304" pitchFamily="18" charset="0"/>
              </a:rPr>
              <a:t>BLOCK DIAGRAM</a:t>
            </a:r>
            <a:endParaRPr lang="en-IN" sz="2000" b="1" dirty="0">
              <a:latin typeface="+mn-lt"/>
              <a:cs typeface="Times New Roman" panose="02020603050405020304" pitchFamily="18" charset="0"/>
            </a:endParaRPr>
          </a:p>
        </p:txBody>
      </p:sp>
      <p:pic>
        <p:nvPicPr>
          <p:cNvPr id="5" name="Content Placeholder 4">
            <a:extLst>
              <a:ext uri="{FF2B5EF4-FFF2-40B4-BE49-F238E27FC236}">
                <a16:creationId xmlns:a16="http://schemas.microsoft.com/office/drawing/2014/main" id="{0EC0138A-0E82-4299-A2E3-559B470D1E2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5960" b="27299"/>
          <a:stretch/>
        </p:blipFill>
        <p:spPr>
          <a:xfrm>
            <a:off x="566022" y="436334"/>
            <a:ext cx="9223409" cy="2033864"/>
          </a:xfrm>
        </p:spPr>
      </p:pic>
      <p:sp>
        <p:nvSpPr>
          <p:cNvPr id="6" name="TextBox 5">
            <a:extLst>
              <a:ext uri="{FF2B5EF4-FFF2-40B4-BE49-F238E27FC236}">
                <a16:creationId xmlns:a16="http://schemas.microsoft.com/office/drawing/2014/main" id="{AAD97FD9-D821-4D29-BA40-0614E495810B}"/>
              </a:ext>
            </a:extLst>
          </p:cNvPr>
          <p:cNvSpPr txBox="1"/>
          <p:nvPr/>
        </p:nvSpPr>
        <p:spPr>
          <a:xfrm>
            <a:off x="394304" y="2174349"/>
            <a:ext cx="11635409" cy="4247317"/>
          </a:xfrm>
          <a:prstGeom prst="rect">
            <a:avLst/>
          </a:prstGeom>
          <a:noFill/>
        </p:spPr>
        <p:txBody>
          <a:bodyPr wrap="square" rtlCol="0">
            <a:spAutoFit/>
          </a:bodyPr>
          <a:lstStyle/>
          <a:p>
            <a:r>
              <a:rPr lang="en-US" b="1" dirty="0"/>
              <a:t>INPUT:</a:t>
            </a:r>
            <a:r>
              <a:rPr lang="en-US" dirty="0"/>
              <a:t> The ECG input provides the raw biomedical signal which may contain useful cardiac information along with noise    and interference.</a:t>
            </a:r>
          </a:p>
          <a:p>
            <a:endParaRPr lang="en-US" dirty="0"/>
          </a:p>
          <a:p>
            <a:r>
              <a:rPr lang="en-US" b="1" dirty="0"/>
              <a:t>INPUT BUFFER :</a:t>
            </a:r>
            <a:r>
              <a:rPr lang="en-US" dirty="0"/>
              <a:t>The input buffer temporarily stores incoming sampled ECG signals before they are processed by the FIR filter. 1/z represents a one-sample delay element. </a:t>
            </a:r>
          </a:p>
          <a:p>
            <a:endParaRPr lang="en-US" dirty="0"/>
          </a:p>
          <a:p>
            <a:r>
              <a:rPr lang="en-US" b="1" dirty="0"/>
              <a:t>FIR FILTER (MAIN BLOCK): This is the main block concentrated in the system</a:t>
            </a:r>
            <a:r>
              <a:rPr lang="en-US" dirty="0"/>
              <a:t>. FIR stands for Finite Impulse Response filter. The filter performs the main signal processing operation. The filter reduces unwanted noise present in the ECG signal. This block plays an important role in obtaining a clear ECG output. The term 0.5+0.5z⁻¹/1 indicates that the FIR filter combines equal portions of the current and previous input samples to produce a smoother output signal.  </a:t>
            </a:r>
          </a:p>
          <a:p>
            <a:endParaRPr lang="en-US" dirty="0"/>
          </a:p>
          <a:p>
            <a:r>
              <a:rPr lang="en-US" b="1" dirty="0"/>
              <a:t>OUTPUT BUFFER</a:t>
            </a:r>
            <a:r>
              <a:rPr lang="en-US" dirty="0"/>
              <a:t>: This block introduces another one-sample delay. It stabilizes the processed signal before output.</a:t>
            </a:r>
          </a:p>
          <a:p>
            <a:endParaRPr lang="en-US" dirty="0"/>
          </a:p>
          <a:p>
            <a:r>
              <a:rPr lang="en-US" b="1" dirty="0"/>
              <a:t>OUTPUT: </a:t>
            </a:r>
            <a:r>
              <a:rPr lang="en-US" dirty="0"/>
              <a:t>This is the final filtered ECG signal obtained from the system. Noise and unwanted disturbances are reduced significantly. </a:t>
            </a:r>
            <a:endParaRPr lang="en-IN" dirty="0"/>
          </a:p>
        </p:txBody>
      </p:sp>
    </p:spTree>
    <p:extLst>
      <p:ext uri="{BB962C8B-B14F-4D97-AF65-F5344CB8AC3E}">
        <p14:creationId xmlns:p14="http://schemas.microsoft.com/office/powerpoint/2010/main" val="383475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D31488-01EF-4C47-8FC5-04B3CF9AA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8612" y="1066470"/>
            <a:ext cx="8847073" cy="4725059"/>
          </a:xfrm>
          <a:prstGeom prst="rect">
            <a:avLst/>
          </a:prstGeom>
        </p:spPr>
      </p:pic>
      <p:sp>
        <p:nvSpPr>
          <p:cNvPr id="4" name="TextBox 3">
            <a:extLst>
              <a:ext uri="{FF2B5EF4-FFF2-40B4-BE49-F238E27FC236}">
                <a16:creationId xmlns:a16="http://schemas.microsoft.com/office/drawing/2014/main" id="{7000358D-834C-4954-8470-C4C5CD05D217}"/>
              </a:ext>
            </a:extLst>
          </p:cNvPr>
          <p:cNvSpPr txBox="1"/>
          <p:nvPr/>
        </p:nvSpPr>
        <p:spPr>
          <a:xfrm>
            <a:off x="422030" y="337624"/>
            <a:ext cx="3953021" cy="400110"/>
          </a:xfrm>
          <a:prstGeom prst="rect">
            <a:avLst/>
          </a:prstGeom>
          <a:noFill/>
        </p:spPr>
        <p:txBody>
          <a:bodyPr wrap="square" rtlCol="0">
            <a:spAutoFit/>
          </a:bodyPr>
          <a:lstStyle/>
          <a:p>
            <a:r>
              <a:rPr lang="en-US" sz="2000" b="1" dirty="0">
                <a:cs typeface="Times New Roman" panose="02020603050405020304" pitchFamily="18" charset="0"/>
              </a:rPr>
              <a:t>ARCHITECTURE</a:t>
            </a:r>
            <a:endParaRPr lang="en-IN" sz="2000" b="1" dirty="0">
              <a:cs typeface="Times New Roman" panose="02020603050405020304" pitchFamily="18" charset="0"/>
            </a:endParaRPr>
          </a:p>
        </p:txBody>
      </p:sp>
    </p:spTree>
    <p:extLst>
      <p:ext uri="{BB962C8B-B14F-4D97-AF65-F5344CB8AC3E}">
        <p14:creationId xmlns:p14="http://schemas.microsoft.com/office/powerpoint/2010/main" val="19027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B539CB-8FB7-4FC6-AE37-8582FCCC0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95" y="351692"/>
            <a:ext cx="3446584" cy="1891244"/>
          </a:xfrm>
          <a:prstGeom prst="rect">
            <a:avLst/>
          </a:prstGeom>
        </p:spPr>
      </p:pic>
      <p:sp>
        <p:nvSpPr>
          <p:cNvPr id="4" name="TextBox 3">
            <a:extLst>
              <a:ext uri="{FF2B5EF4-FFF2-40B4-BE49-F238E27FC236}">
                <a16:creationId xmlns:a16="http://schemas.microsoft.com/office/drawing/2014/main" id="{ADF4C90A-319D-428D-8CD3-1BE7FEC4428A}"/>
              </a:ext>
            </a:extLst>
          </p:cNvPr>
          <p:cNvSpPr txBox="1"/>
          <p:nvPr/>
        </p:nvSpPr>
        <p:spPr>
          <a:xfrm>
            <a:off x="309490" y="351692"/>
            <a:ext cx="3052689" cy="369332"/>
          </a:xfrm>
          <a:prstGeom prst="rect">
            <a:avLst/>
          </a:prstGeom>
          <a:noFill/>
        </p:spPr>
        <p:txBody>
          <a:bodyPr wrap="square" rtlCol="0">
            <a:spAutoFit/>
          </a:bodyPr>
          <a:lstStyle/>
          <a:p>
            <a:r>
              <a:rPr lang="en-US" b="1" dirty="0">
                <a:cs typeface="Times New Roman" panose="02020603050405020304" pitchFamily="18" charset="0"/>
              </a:rPr>
              <a:t>FORMULA</a:t>
            </a:r>
            <a:r>
              <a:rPr lang="en-US" dirty="0"/>
              <a:t>:</a:t>
            </a:r>
            <a:endParaRPr lang="en-IN" dirty="0"/>
          </a:p>
        </p:txBody>
      </p:sp>
      <p:sp>
        <p:nvSpPr>
          <p:cNvPr id="5" name="TextBox 4">
            <a:extLst>
              <a:ext uri="{FF2B5EF4-FFF2-40B4-BE49-F238E27FC236}">
                <a16:creationId xmlns:a16="http://schemas.microsoft.com/office/drawing/2014/main" id="{30C58B70-4921-4E5F-85C0-643969930C45}"/>
              </a:ext>
            </a:extLst>
          </p:cNvPr>
          <p:cNvSpPr txBox="1"/>
          <p:nvPr/>
        </p:nvSpPr>
        <p:spPr>
          <a:xfrm>
            <a:off x="309490" y="2034395"/>
            <a:ext cx="11802794" cy="646331"/>
          </a:xfrm>
          <a:prstGeom prst="rect">
            <a:avLst/>
          </a:prstGeom>
          <a:noFill/>
        </p:spPr>
        <p:txBody>
          <a:bodyPr wrap="square" rtlCol="0">
            <a:spAutoFit/>
          </a:bodyPr>
          <a:lstStyle/>
          <a:p>
            <a:r>
              <a:rPr lang="pt-BR" dirty="0"/>
              <a:t>y[n] =  h[0]x[n] + h[1]x[n−1] + h[2]x[n−2] + h[3]x[n−3] + h[4]x[n−4] + h[5]x[n−5] + h[6]x[n−6] + h[7]x[n−7] + h[8]x[n−8] +h[9]x[n−9] + h[10]x[n−10] + h[11]x[n−11] + h[12]x[n−12] + h[13]x[n−13] + h[14]x[n−14] + h[15]x[n−15] </a:t>
            </a:r>
            <a:endParaRPr lang="en-IN" dirty="0"/>
          </a:p>
        </p:txBody>
      </p:sp>
      <p:sp>
        <p:nvSpPr>
          <p:cNvPr id="6" name="TextBox 5">
            <a:extLst>
              <a:ext uri="{FF2B5EF4-FFF2-40B4-BE49-F238E27FC236}">
                <a16:creationId xmlns:a16="http://schemas.microsoft.com/office/drawing/2014/main" id="{1D5EC68D-8323-4677-AE73-ED18CE27EE0E}"/>
              </a:ext>
            </a:extLst>
          </p:cNvPr>
          <p:cNvSpPr txBox="1"/>
          <p:nvPr/>
        </p:nvSpPr>
        <p:spPr>
          <a:xfrm>
            <a:off x="309490" y="2919328"/>
            <a:ext cx="11573020" cy="4801314"/>
          </a:xfrm>
          <a:prstGeom prst="rect">
            <a:avLst/>
          </a:prstGeom>
          <a:noFill/>
        </p:spPr>
        <p:txBody>
          <a:bodyPr wrap="square" rtlCol="0">
            <a:spAutoFit/>
          </a:bodyPr>
          <a:lstStyle/>
          <a:p>
            <a:r>
              <a:rPr lang="en-IN" b="1" dirty="0"/>
              <a:t>DELAY ELEMENT :</a:t>
            </a:r>
            <a:endParaRPr lang="en-IN" dirty="0"/>
          </a:p>
          <a:p>
            <a:r>
              <a:rPr lang="en-IN" dirty="0"/>
              <a:t>Stores the input signal for one sample time. </a:t>
            </a:r>
          </a:p>
          <a:p>
            <a:r>
              <a:rPr lang="en-IN" dirty="0"/>
              <a:t>Produces delayed versions such as x[n-1],x[n-2],etc</a:t>
            </a:r>
          </a:p>
          <a:p>
            <a:r>
              <a:rPr lang="en-IN" dirty="0"/>
              <a:t>Helps the filter use previous signal values for processing.</a:t>
            </a:r>
          </a:p>
          <a:p>
            <a:r>
              <a:rPr lang="en-US" b="1" dirty="0"/>
              <a:t>MULTIPLIER BLOCK:</a:t>
            </a:r>
          </a:p>
          <a:p>
            <a:r>
              <a:rPr lang="en-US" dirty="0"/>
              <a:t>Multiplies each delayed signal with a filter coefficient h[k]. </a:t>
            </a:r>
          </a:p>
          <a:p>
            <a:r>
              <a:rPr lang="en-US" b="1" dirty="0"/>
              <a:t>ADDER BLOCK :</a:t>
            </a:r>
          </a:p>
          <a:p>
            <a:r>
              <a:rPr lang="en-US" dirty="0"/>
              <a:t>Adds all multiplied outputs together. </a:t>
            </a:r>
          </a:p>
          <a:p>
            <a:r>
              <a:rPr lang="en-US" dirty="0"/>
              <a:t>Produces the final filtered output signal y[n].</a:t>
            </a:r>
          </a:p>
          <a:p>
            <a:r>
              <a:rPr lang="en-US" b="1" dirty="0"/>
              <a:t>FILTER COEFFICIENTS:</a:t>
            </a:r>
          </a:p>
          <a:p>
            <a:r>
              <a:rPr lang="en-US" dirty="0"/>
              <a:t>These are constant values used for filtering. </a:t>
            </a:r>
          </a:p>
          <a:p>
            <a:r>
              <a:rPr lang="en-US" b="1" dirty="0"/>
              <a:t>OUTPUT SIGNAL:</a:t>
            </a:r>
          </a:p>
          <a:p>
            <a:r>
              <a:rPr lang="en-US" dirty="0"/>
              <a:t>Represents the final filtered signal.</a:t>
            </a:r>
          </a:p>
          <a:p>
            <a:endParaRPr lang="en-US" dirty="0"/>
          </a:p>
          <a:p>
            <a:endParaRPr lang="en-US" dirty="0"/>
          </a:p>
          <a:p>
            <a:endParaRPr lang="en-IN" dirty="0"/>
          </a:p>
          <a:p>
            <a:endParaRPr lang="en-IN" dirty="0"/>
          </a:p>
        </p:txBody>
      </p:sp>
    </p:spTree>
    <p:extLst>
      <p:ext uri="{BB962C8B-B14F-4D97-AF65-F5344CB8AC3E}">
        <p14:creationId xmlns:p14="http://schemas.microsoft.com/office/powerpoint/2010/main" val="3172859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34271-0945-752F-6064-CE21C60536EF}"/>
              </a:ext>
            </a:extLst>
          </p:cNvPr>
          <p:cNvSpPr txBox="1"/>
          <p:nvPr/>
        </p:nvSpPr>
        <p:spPr>
          <a:xfrm>
            <a:off x="353961" y="424934"/>
            <a:ext cx="6096000" cy="2062103"/>
          </a:xfrm>
          <a:prstGeom prst="rect">
            <a:avLst/>
          </a:prstGeom>
          <a:noFill/>
        </p:spPr>
        <p:txBody>
          <a:bodyPr wrap="square">
            <a:spAutoFit/>
          </a:bodyPr>
          <a:lstStyle/>
          <a:p>
            <a:r>
              <a:rPr lang="en-IN" sz="2800" b="1" u="sng" dirty="0"/>
              <a:t>Comments:</a:t>
            </a:r>
          </a:p>
          <a:p>
            <a:r>
              <a:rPr lang="en-IN" sz="2000" dirty="0"/>
              <a:t>1)Applying predefined coefficients to the input signal, is it integer or fraction?</a:t>
            </a:r>
          </a:p>
          <a:p>
            <a:r>
              <a:rPr lang="en-IN" sz="2000" dirty="0"/>
              <a:t>Ans)while the storage format is integer, the functional representation during the convolution process is fractional to maintain precision.</a:t>
            </a:r>
          </a:p>
        </p:txBody>
      </p:sp>
    </p:spTree>
    <p:extLst>
      <p:ext uri="{BB962C8B-B14F-4D97-AF65-F5344CB8AC3E}">
        <p14:creationId xmlns:p14="http://schemas.microsoft.com/office/powerpoint/2010/main" val="3094249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E2AD0-DF35-B628-15A6-E022237D6DC7}"/>
              </a:ext>
            </a:extLst>
          </p:cNvPr>
          <p:cNvSpPr>
            <a:spLocks noGrp="1"/>
          </p:cNvSpPr>
          <p:nvPr>
            <p:ph type="title"/>
          </p:nvPr>
        </p:nvSpPr>
        <p:spPr>
          <a:xfrm>
            <a:off x="947943" y="404454"/>
            <a:ext cx="10515600" cy="1325563"/>
          </a:xfrm>
        </p:spPr>
        <p:txBody>
          <a:bodyPr>
            <a:normAutofit/>
          </a:bodyPr>
          <a:lstStyle/>
          <a:p>
            <a:r>
              <a:rPr lang="en-US" sz="3600" b="1" u="sng" dirty="0"/>
              <a:t>Leaf cell design:</a:t>
            </a:r>
            <a:endParaRPr lang="en-IN" sz="3600" b="1" u="sng" dirty="0"/>
          </a:p>
        </p:txBody>
      </p:sp>
      <p:sp>
        <p:nvSpPr>
          <p:cNvPr id="4" name="Content Placeholder 3">
            <a:extLst>
              <a:ext uri="{FF2B5EF4-FFF2-40B4-BE49-F238E27FC236}">
                <a16:creationId xmlns:a16="http://schemas.microsoft.com/office/drawing/2014/main" id="{3E0D4CEF-532E-8A07-3FAB-416CAC5370BE}"/>
              </a:ext>
            </a:extLst>
          </p:cNvPr>
          <p:cNvSpPr>
            <a:spLocks noGrp="1"/>
          </p:cNvSpPr>
          <p:nvPr>
            <p:ph sz="half" idx="2"/>
          </p:nvPr>
        </p:nvSpPr>
        <p:spPr>
          <a:xfrm>
            <a:off x="839788" y="1347020"/>
            <a:ext cx="6986689" cy="3569110"/>
          </a:xfrm>
        </p:spPr>
        <p:txBody>
          <a:bodyPr>
            <a:normAutofit/>
          </a:bodyPr>
          <a:lstStyle/>
          <a:p>
            <a:r>
              <a:rPr lang="en-US" sz="2400" b="1" dirty="0"/>
              <a:t>Delay</a:t>
            </a:r>
            <a:r>
              <a:rPr lang="en-US" sz="2400" dirty="0"/>
              <a:t> </a:t>
            </a:r>
          </a:p>
          <a:p>
            <a:r>
              <a:rPr lang="en-US" sz="2400" dirty="0"/>
              <a:t>It is the time difference between an input signal changing and the resulting output signal responding. </a:t>
            </a:r>
          </a:p>
          <a:p>
            <a:r>
              <a:rPr lang="en-US" sz="2000" dirty="0"/>
              <a:t>In delay Input used is 16 bit </a:t>
            </a:r>
            <a:r>
              <a:rPr lang="en-US" sz="2000"/>
              <a:t>and output got is 16 bit </a:t>
            </a:r>
            <a:endParaRPr lang="en-IN" sz="2000"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770963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49B4D7-24D4-0EAC-CBB1-51F521C9E075}"/>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015832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973</Words>
  <Application>Microsoft Office PowerPoint</Application>
  <PresentationFormat>Widescreen</PresentationFormat>
  <Paragraphs>90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Black</vt:lpstr>
      <vt:lpstr>Calibri</vt:lpstr>
      <vt:lpstr>Calibri Light</vt:lpstr>
      <vt:lpstr>Google Sans</vt:lpstr>
      <vt:lpstr>Times New Roman</vt:lpstr>
      <vt:lpstr>Wingdings</vt:lpstr>
      <vt:lpstr>Office Theme</vt:lpstr>
      <vt:lpstr>PowerPoint Presentation</vt:lpstr>
      <vt:lpstr>Work Distribution</vt:lpstr>
      <vt:lpstr>PowerPoint Presentation</vt:lpstr>
      <vt:lpstr>PowerPoint Presentation</vt:lpstr>
      <vt:lpstr>Comments: 1)Do you have real time signal or from datasets? Ans) Datasets    </vt:lpstr>
      <vt:lpstr>   BLOCK DIAGRAM</vt:lpstr>
      <vt:lpstr>PowerPoint Presentation</vt:lpstr>
      <vt:lpstr>PowerPoint Presentation</vt:lpstr>
      <vt:lpstr>PowerPoint Presentation</vt:lpstr>
      <vt:lpstr>Leaf cell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AKSHAYA P</cp:lastModifiedBy>
  <cp:revision>20</cp:revision>
  <dcterms:created xsi:type="dcterms:W3CDTF">2026-05-01T17:52:42Z</dcterms:created>
  <dcterms:modified xsi:type="dcterms:W3CDTF">2026-05-12T07:42:47Z</dcterms:modified>
</cp:coreProperties>
</file>